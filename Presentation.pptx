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7" r:id="rId1"/>
  </p:sld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18"/>
  </p:normalViewPr>
  <p:slideViewPr>
    <p:cSldViewPr snapToGrid="0">
      <p:cViewPr varScale="1">
        <p:scale>
          <a:sx n="116" d="100"/>
          <a:sy n="116" d="100"/>
        </p:scale>
        <p:origin x="2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D1DB4B54-C624-3E4C-8A7A-BAD2D4F658F6}" type="datetimeFigureOut">
              <a:rPr lang="en-US" smtClean="0"/>
              <a:t>3/14/26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9533C25-93F6-644E-B38D-C0E1A0C5EB83}"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89777573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40189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D1DB4B54-C624-3E4C-8A7A-BAD2D4F658F6}" type="datetimeFigureOut">
              <a:rPr lang="en-US" smtClean="0"/>
              <a:t>3/14/26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9520367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1DB4B54-C624-3E4C-8A7A-BAD2D4F658F6}"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285550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1DB4B54-C624-3E4C-8A7A-BAD2D4F658F6}" type="datetimeFigureOut">
              <a:rPr lang="en-US" smtClean="0"/>
              <a:t>3/14/26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3801328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1DB4B54-C624-3E4C-8A7A-BAD2D4F658F6}" type="datetimeFigureOut">
              <a:rPr lang="en-US" smtClean="0"/>
              <a:t>3/14/26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2041263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B4B54-C624-3E4C-8A7A-BAD2D4F658F6}" type="datetimeFigureOut">
              <a:rPr lang="en-US" smtClean="0"/>
              <a:t>3/14/26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71993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1DB4B54-C624-3E4C-8A7A-BAD2D4F658F6}" type="datetimeFigureOut">
              <a:rPr lang="en-US" smtClean="0"/>
              <a:t>3/14/26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5205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1DB4B54-C624-3E4C-8A7A-BAD2D4F658F6}" type="datetimeFigureOut">
              <a:rPr lang="en-US" smtClean="0"/>
              <a:t>3/14/26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533C25-93F6-644E-B38D-C0E1A0C5EB8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9213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667441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DB4B54-C624-3E4C-8A7A-BAD2D4F658F6}"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533C25-93F6-644E-B38D-C0E1A0C5EB83}" type="slidenum">
              <a:rPr lang="en-US" smtClean="0"/>
              <a:t>‹#›</a:t>
            </a:fld>
            <a:endParaRPr lang="en-US"/>
          </a:p>
        </p:txBody>
      </p:sp>
    </p:spTree>
    <p:extLst>
      <p:ext uri="{BB962C8B-B14F-4D97-AF65-F5344CB8AC3E}">
        <p14:creationId xmlns:p14="http://schemas.microsoft.com/office/powerpoint/2010/main" val="169506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D1DB4B54-C624-3E4C-8A7A-BAD2D4F658F6}" type="datetimeFigureOut">
              <a:rPr lang="en-US" smtClean="0"/>
              <a:t>3/14/26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9533C25-93F6-644E-B38D-C0E1A0C5EB83}"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5314518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ookvault-api-wth1.onrender.com/doc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D9F8-C668-590F-5E8B-3509B5E3BABC}"/>
              </a:ext>
            </a:extLst>
          </p:cNvPr>
          <p:cNvSpPr>
            <a:spLocks noGrp="1"/>
          </p:cNvSpPr>
          <p:nvPr>
            <p:ph type="ctrTitle"/>
          </p:nvPr>
        </p:nvSpPr>
        <p:spPr/>
        <p:txBody>
          <a:bodyPr/>
          <a:lstStyle/>
          <a:p>
            <a:r>
              <a:rPr lang="en-US" dirty="0"/>
              <a:t>BookVault API</a:t>
            </a:r>
          </a:p>
        </p:txBody>
      </p:sp>
      <p:sp>
        <p:nvSpPr>
          <p:cNvPr id="3" name="Subtitle 2">
            <a:extLst>
              <a:ext uri="{FF2B5EF4-FFF2-40B4-BE49-F238E27FC236}">
                <a16:creationId xmlns:a16="http://schemas.microsoft.com/office/drawing/2014/main" id="{8351284E-094D-FC27-57D2-C4DCEBEDD59D}"/>
              </a:ext>
            </a:extLst>
          </p:cNvPr>
          <p:cNvSpPr>
            <a:spLocks noGrp="1"/>
          </p:cNvSpPr>
          <p:nvPr>
            <p:ph type="subTitle" idx="1"/>
          </p:nvPr>
        </p:nvSpPr>
        <p:spPr/>
        <p:txBody>
          <a:bodyPr>
            <a:normAutofit/>
          </a:bodyPr>
          <a:lstStyle/>
          <a:p>
            <a:r>
              <a:rPr lang="en-US" dirty="0"/>
              <a:t>Matthew Hughes</a:t>
            </a:r>
          </a:p>
          <a:p>
            <a:r>
              <a:rPr lang="en-US" dirty="0"/>
              <a:t>COMP3011</a:t>
            </a:r>
          </a:p>
        </p:txBody>
      </p:sp>
    </p:spTree>
    <p:extLst>
      <p:ext uri="{BB962C8B-B14F-4D97-AF65-F5344CB8AC3E}">
        <p14:creationId xmlns:p14="http://schemas.microsoft.com/office/powerpoint/2010/main" val="293210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5699-8A0B-366E-1CF3-90AB647138D0}"/>
              </a:ext>
            </a:extLst>
          </p:cNvPr>
          <p:cNvSpPr>
            <a:spLocks noGrp="1"/>
          </p:cNvSpPr>
          <p:nvPr>
            <p:ph type="title"/>
          </p:nvPr>
        </p:nvSpPr>
        <p:spPr>
          <a:xfrm>
            <a:off x="1371600" y="685800"/>
            <a:ext cx="9601200" cy="896257"/>
          </a:xfrm>
        </p:spPr>
        <p:txBody>
          <a:bodyPr>
            <a:normAutofit fontScale="90000"/>
          </a:bodyPr>
          <a:lstStyle/>
          <a:p>
            <a:r>
              <a:rPr lang="en-US" dirty="0"/>
              <a:t>Overview</a:t>
            </a:r>
            <a:br>
              <a:rPr lang="en-US" dirty="0"/>
            </a:br>
            <a:endParaRPr lang="en-US" dirty="0"/>
          </a:p>
        </p:txBody>
      </p:sp>
      <p:sp>
        <p:nvSpPr>
          <p:cNvPr id="3" name="Content Placeholder 2">
            <a:extLst>
              <a:ext uri="{FF2B5EF4-FFF2-40B4-BE49-F238E27FC236}">
                <a16:creationId xmlns:a16="http://schemas.microsoft.com/office/drawing/2014/main" id="{528801FB-D7C7-36BE-DA02-3DCBFF6410EF}"/>
              </a:ext>
            </a:extLst>
          </p:cNvPr>
          <p:cNvSpPr>
            <a:spLocks noGrp="1"/>
          </p:cNvSpPr>
          <p:nvPr>
            <p:ph idx="1"/>
          </p:nvPr>
        </p:nvSpPr>
        <p:spPr>
          <a:xfrm>
            <a:off x="1371600" y="1582057"/>
            <a:ext cx="9601200" cy="4775200"/>
          </a:xfrm>
        </p:spPr>
        <p:txBody>
          <a:bodyPr>
            <a:normAutofit/>
          </a:bodyPr>
          <a:lstStyle/>
          <a:p>
            <a:r>
              <a:rPr lang="en-US" dirty="0"/>
              <a:t>BookVault API provides a set of endpoints relating to books and their metadata. It allows users to access information from the Goodreads books dataset from Kaggle such as a book’s name, author, publication date, etc. as well as rating information such as a book’s average rating.</a:t>
            </a:r>
          </a:p>
          <a:p>
            <a:endParaRPr lang="en-US" dirty="0"/>
          </a:p>
          <a:p>
            <a:pPr marL="0" indent="0">
              <a:buNone/>
            </a:pPr>
            <a:endParaRPr lang="en-US" dirty="0"/>
          </a:p>
          <a:p>
            <a:pPr marL="0" indent="0">
              <a:buNone/>
            </a:pPr>
            <a:endParaRPr lang="en-US" dirty="0"/>
          </a:p>
          <a:p>
            <a:pPr marL="0" indent="0">
              <a:buNone/>
            </a:pPr>
            <a:r>
              <a:rPr lang="en-US" dirty="0"/>
              <a:t> </a:t>
            </a:r>
          </a:p>
          <a:p>
            <a:r>
              <a:rPr lang="en-US" dirty="0"/>
              <a:t>There is also an analytics section where you can request statistical data about the dataset. Endpoints include rating distribution, top publishers, most rated books, and a language breakdown.</a:t>
            </a:r>
          </a:p>
          <a:p>
            <a:r>
              <a:rPr lang="en-US" dirty="0"/>
              <a:t>I chose books for this coursework because it was part of an idea for a personal project that I intended to create.</a:t>
            </a:r>
          </a:p>
        </p:txBody>
      </p:sp>
      <p:pic>
        <p:nvPicPr>
          <p:cNvPr id="1026" name="Picture 2" descr="Introducing Our New Logo, and More Ways We Continue to Improve Goodreads -  Goodreads News &amp; Interviews">
            <a:extLst>
              <a:ext uri="{FF2B5EF4-FFF2-40B4-BE49-F238E27FC236}">
                <a16:creationId xmlns:a16="http://schemas.microsoft.com/office/drawing/2014/main" id="{403A1CAF-BC7D-D39D-B37E-EE089E163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685" y="2889206"/>
            <a:ext cx="4160157" cy="15848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aggle 2026 Company Profile: Valuation, Investors, Acquisition | PitchBook">
            <a:extLst>
              <a:ext uri="{FF2B5EF4-FFF2-40B4-BE49-F238E27FC236}">
                <a16:creationId xmlns:a16="http://schemas.microsoft.com/office/drawing/2014/main" id="{62C2A34A-EADA-B3C1-F380-6C4BE9D5F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687" y="2411617"/>
            <a:ext cx="254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816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D0F0D-7400-6343-4D55-79B4E4975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1FB7F-D1C2-8FD5-2B70-66F1429C64D1}"/>
              </a:ext>
            </a:extLst>
          </p:cNvPr>
          <p:cNvSpPr>
            <a:spLocks noGrp="1"/>
          </p:cNvSpPr>
          <p:nvPr>
            <p:ph type="title"/>
          </p:nvPr>
        </p:nvSpPr>
        <p:spPr>
          <a:xfrm>
            <a:off x="1371600" y="685800"/>
            <a:ext cx="9601200" cy="896257"/>
          </a:xfrm>
        </p:spPr>
        <p:txBody>
          <a:bodyPr>
            <a:normAutofit fontScale="90000"/>
          </a:bodyPr>
          <a:lstStyle/>
          <a:p>
            <a:r>
              <a:rPr lang="en-US" dirty="0"/>
              <a:t>Technology Stack</a:t>
            </a:r>
            <a:br>
              <a:rPr lang="en-US" dirty="0"/>
            </a:br>
            <a:endParaRPr lang="en-US" dirty="0"/>
          </a:p>
        </p:txBody>
      </p:sp>
      <p:sp>
        <p:nvSpPr>
          <p:cNvPr id="3" name="Content Placeholder 2">
            <a:extLst>
              <a:ext uri="{FF2B5EF4-FFF2-40B4-BE49-F238E27FC236}">
                <a16:creationId xmlns:a16="http://schemas.microsoft.com/office/drawing/2014/main" id="{AD0797FE-8C83-2285-F953-3F7A2D6F3E80}"/>
              </a:ext>
            </a:extLst>
          </p:cNvPr>
          <p:cNvSpPr>
            <a:spLocks noGrp="1"/>
          </p:cNvSpPr>
          <p:nvPr>
            <p:ph idx="1"/>
          </p:nvPr>
        </p:nvSpPr>
        <p:spPr>
          <a:xfrm>
            <a:off x="1371600" y="1582057"/>
            <a:ext cx="9601200" cy="4992914"/>
          </a:xfrm>
        </p:spPr>
        <p:txBody>
          <a:bodyPr/>
          <a:lstStyle/>
          <a:p>
            <a:r>
              <a:rPr lang="en-US" dirty="0"/>
              <a:t>FastAPI was chosen over Django for a few reasons:</a:t>
            </a:r>
          </a:p>
          <a:p>
            <a:pPr lvl="1"/>
            <a:r>
              <a:rPr lang="en-US" dirty="0"/>
              <a:t>FastAPI automatically generates interactive SwaggerUI documentation.</a:t>
            </a:r>
          </a:p>
          <a:p>
            <a:pPr lvl="1"/>
            <a:r>
              <a:rPr lang="en-US" dirty="0"/>
              <a:t>Pydantic schemas make request validation easier.</a:t>
            </a:r>
          </a:p>
          <a:p>
            <a:pPr lvl="1"/>
            <a:r>
              <a:rPr lang="en-US" dirty="0"/>
              <a:t>Asynchronous request handling is more suited to modern RESTful architecture.</a:t>
            </a:r>
          </a:p>
          <a:p>
            <a:r>
              <a:rPr lang="en-US" dirty="0"/>
              <a:t>SQLite was chosen for the database as it is simple to use and does not require an external database (it is stored in a single file). This makes it ideal for a project of this scale.</a:t>
            </a:r>
          </a:p>
          <a:p>
            <a:r>
              <a:rPr lang="en-US" dirty="0"/>
              <a:t>SQLAlchemy provides an ORM layer that maps Python classes to database tables making development and debugging intuitive for this project. </a:t>
            </a:r>
          </a:p>
        </p:txBody>
      </p:sp>
      <p:pic>
        <p:nvPicPr>
          <p:cNvPr id="2052" name="Picture 4" descr="fastapi · PyPI">
            <a:extLst>
              <a:ext uri="{FF2B5EF4-FFF2-40B4-BE49-F238E27FC236}">
                <a16:creationId xmlns:a16="http://schemas.microsoft.com/office/drawing/2014/main" id="{ACDCB3B0-5C3B-0DAB-75E9-28DEC906F1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541" y="5074713"/>
            <a:ext cx="3594100" cy="129733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reate a Database with SQLite, a short introduction">
            <a:extLst>
              <a:ext uri="{FF2B5EF4-FFF2-40B4-BE49-F238E27FC236}">
                <a16:creationId xmlns:a16="http://schemas.microsoft.com/office/drawing/2014/main" id="{87F8154E-E37E-0A32-C5D3-027F083ED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271" y="4871792"/>
            <a:ext cx="2574471" cy="170317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SQLAlchemy - Wikipedia">
            <a:extLst>
              <a:ext uri="{FF2B5EF4-FFF2-40B4-BE49-F238E27FC236}">
                <a16:creationId xmlns:a16="http://schemas.microsoft.com/office/drawing/2014/main" id="{55C00211-BF57-D08B-299C-B3E4D42827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0372" y="4985874"/>
            <a:ext cx="2950028" cy="1475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21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2298810-6FD6-39A4-5D1A-F1DE709F3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69408-6CE7-AAA4-DC56-865B765E7684}"/>
              </a:ext>
            </a:extLst>
          </p:cNvPr>
          <p:cNvSpPr>
            <a:spLocks noGrp="1"/>
          </p:cNvSpPr>
          <p:nvPr>
            <p:ph type="title"/>
          </p:nvPr>
        </p:nvSpPr>
        <p:spPr>
          <a:xfrm>
            <a:off x="1023562" y="685800"/>
            <a:ext cx="10493524" cy="1485900"/>
          </a:xfrm>
        </p:spPr>
        <p:txBody>
          <a:bodyPr>
            <a:normAutofit/>
          </a:bodyPr>
          <a:lstStyle/>
          <a:p>
            <a:r>
              <a:rPr lang="en-US"/>
              <a:t>Architecture</a:t>
            </a:r>
            <a:endParaRPr lang="en-US" dirty="0"/>
          </a:p>
        </p:txBody>
      </p:sp>
      <p:sp>
        <p:nvSpPr>
          <p:cNvPr id="11" name="Rectangle 10">
            <a:extLst>
              <a:ext uri="{FF2B5EF4-FFF2-40B4-BE49-F238E27FC236}">
                <a16:creationId xmlns:a16="http://schemas.microsoft.com/office/drawing/2014/main" id="{B9F89C22-0475-4427-B7C8-0269AD40E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B4A1957-331D-CBDF-5E82-7326A9A93747}"/>
              </a:ext>
            </a:extLst>
          </p:cNvPr>
          <p:cNvSpPr>
            <a:spLocks noGrp="1"/>
          </p:cNvSpPr>
          <p:nvPr>
            <p:ph idx="1"/>
          </p:nvPr>
        </p:nvSpPr>
        <p:spPr>
          <a:xfrm>
            <a:off x="1023562" y="2286000"/>
            <a:ext cx="5072437" cy="3581400"/>
          </a:xfrm>
        </p:spPr>
        <p:txBody>
          <a:bodyPr>
            <a:normAutofit lnSpcReduction="10000"/>
          </a:bodyPr>
          <a:lstStyle/>
          <a:p>
            <a:r>
              <a:rPr lang="en-US" sz="1800" dirty="0"/>
              <a:t>The API uses a modular router-based architecture meaning that each resource has its own router file (stored in the routers folder) to separate endpoint logic for more manageable development.</a:t>
            </a:r>
          </a:p>
          <a:p>
            <a:endParaRPr lang="en-US" sz="1800" dirty="0"/>
          </a:p>
          <a:p>
            <a:r>
              <a:rPr lang="en-US" sz="1800" dirty="0"/>
              <a:t>Other components of the architecture such as authentication and database management are isolated into their own modules.</a:t>
            </a:r>
          </a:p>
          <a:p>
            <a:endParaRPr lang="en-US" sz="1800" dirty="0"/>
          </a:p>
          <a:p>
            <a:r>
              <a:rPr lang="en-US" sz="1800" dirty="0"/>
              <a:t>The main application file’s sole purpose is to initialize the app and register routes.</a:t>
            </a:r>
          </a:p>
        </p:txBody>
      </p:sp>
      <p:pic>
        <p:nvPicPr>
          <p:cNvPr id="6" name="Picture 5" descr="A screenshot of the project architecture from the README&#10;">
            <a:extLst>
              <a:ext uri="{FF2B5EF4-FFF2-40B4-BE49-F238E27FC236}">
                <a16:creationId xmlns:a16="http://schemas.microsoft.com/office/drawing/2014/main" id="{A765D980-B401-1426-E647-C07B7C3F82D4}"/>
              </a:ext>
            </a:extLst>
          </p:cNvPr>
          <p:cNvPicPr>
            <a:picLocks noChangeAspect="1"/>
          </p:cNvPicPr>
          <p:nvPr/>
        </p:nvPicPr>
        <p:blipFill>
          <a:blip r:embed="rId2"/>
          <a:stretch>
            <a:fillRect/>
          </a:stretch>
        </p:blipFill>
        <p:spPr>
          <a:xfrm>
            <a:off x="6412866" y="2009321"/>
            <a:ext cx="5606144" cy="3924300"/>
          </a:xfrm>
          <a:prstGeom prst="rect">
            <a:avLst/>
          </a:prstGeom>
        </p:spPr>
      </p:pic>
    </p:spTree>
    <p:extLst>
      <p:ext uri="{BB962C8B-B14F-4D97-AF65-F5344CB8AC3E}">
        <p14:creationId xmlns:p14="http://schemas.microsoft.com/office/powerpoint/2010/main" val="2077324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7ED62-9C4D-BCA3-0BD3-82EDD679C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AE7B9-6A96-F04C-EAD8-D3CC3B818309}"/>
              </a:ext>
            </a:extLst>
          </p:cNvPr>
          <p:cNvSpPr>
            <a:spLocks noGrp="1"/>
          </p:cNvSpPr>
          <p:nvPr>
            <p:ph type="title"/>
          </p:nvPr>
        </p:nvSpPr>
        <p:spPr>
          <a:xfrm>
            <a:off x="1371600" y="685800"/>
            <a:ext cx="9601200" cy="896257"/>
          </a:xfrm>
        </p:spPr>
        <p:txBody>
          <a:bodyPr>
            <a:normAutofit/>
          </a:bodyPr>
          <a:lstStyle/>
          <a:p>
            <a:r>
              <a:rPr lang="en-US" dirty="0"/>
              <a:t>Demo</a:t>
            </a:r>
          </a:p>
        </p:txBody>
      </p:sp>
      <p:sp>
        <p:nvSpPr>
          <p:cNvPr id="3" name="Content Placeholder 2">
            <a:extLst>
              <a:ext uri="{FF2B5EF4-FFF2-40B4-BE49-F238E27FC236}">
                <a16:creationId xmlns:a16="http://schemas.microsoft.com/office/drawing/2014/main" id="{08944BAB-1758-373E-8A2A-3C6A0501D0E0}"/>
              </a:ext>
            </a:extLst>
          </p:cNvPr>
          <p:cNvSpPr>
            <a:spLocks noGrp="1"/>
          </p:cNvSpPr>
          <p:nvPr>
            <p:ph idx="1"/>
          </p:nvPr>
        </p:nvSpPr>
        <p:spPr>
          <a:xfrm>
            <a:off x="1371600" y="1582057"/>
            <a:ext cx="9702800" cy="4590143"/>
          </a:xfrm>
        </p:spPr>
        <p:txBody>
          <a:bodyPr/>
          <a:lstStyle/>
          <a:p>
            <a:pPr marL="457200" indent="-457200">
              <a:buAutoNum type="arabicPeriod"/>
            </a:pPr>
            <a:r>
              <a:rPr lang="en-US" dirty="0"/>
              <a:t>POST /users - create a user, authentication, 201 response</a:t>
            </a:r>
          </a:p>
          <a:p>
            <a:pPr marL="457200" indent="-457200">
              <a:buAutoNum type="arabicPeriod"/>
            </a:pPr>
            <a:r>
              <a:rPr lang="en-US" dirty="0"/>
              <a:t>GET /books/ - browse books with filters, pagination, search params</a:t>
            </a:r>
          </a:p>
          <a:p>
            <a:pPr marL="457200" indent="-457200">
              <a:buAutoNum type="arabicPeriod"/>
            </a:pPr>
            <a:r>
              <a:rPr lang="en-US" dirty="0"/>
              <a:t>POST /reviews – user-book relationship, validation</a:t>
            </a:r>
          </a:p>
          <a:p>
            <a:pPr marL="457200" indent="-457200">
              <a:buAutoNum type="arabicPeriod"/>
            </a:pPr>
            <a:r>
              <a:rPr lang="en-US" dirty="0"/>
              <a:t>GET /users/1/reviews – retrieve and filter reviews, query params, JSON response shape</a:t>
            </a:r>
          </a:p>
          <a:p>
            <a:pPr marL="457200" indent="-457200">
              <a:buAutoNum type="arabicPeriod"/>
            </a:pPr>
            <a:r>
              <a:rPr lang="en-US" dirty="0"/>
              <a:t>GET /reviews?book_id=1</a:t>
            </a:r>
          </a:p>
          <a:p>
            <a:pPr marL="457200" indent="-457200">
              <a:buAutoNum type="arabicPeriod"/>
            </a:pPr>
            <a:r>
              <a:rPr lang="en-US" dirty="0"/>
              <a:t>GET /analytics/ - rating dist, top publishers, trends</a:t>
            </a:r>
          </a:p>
          <a:p>
            <a:pPr marL="0" indent="0">
              <a:buNone/>
            </a:pPr>
            <a:endParaRPr lang="en-US">
              <a:hlinkClick r:id="rId2"/>
            </a:endParaRPr>
          </a:p>
          <a:p>
            <a:pPr marL="0" indent="0">
              <a:buNone/>
            </a:pPr>
            <a:r>
              <a:rPr lang="en-US">
                <a:hlinkClick r:id="rId2"/>
              </a:rPr>
              <a:t>https://bookvault-api-wth1.onrender.com/docs</a:t>
            </a:r>
            <a:endParaRPr lang="en-US" dirty="0"/>
          </a:p>
        </p:txBody>
      </p:sp>
    </p:spTree>
    <p:extLst>
      <p:ext uri="{BB962C8B-B14F-4D97-AF65-F5344CB8AC3E}">
        <p14:creationId xmlns:p14="http://schemas.microsoft.com/office/powerpoint/2010/main" val="357400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B14A-3294-E865-C21E-FBA702559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1E1E3-2369-5C0C-2DD4-C4F50E6A77BA}"/>
              </a:ext>
            </a:extLst>
          </p:cNvPr>
          <p:cNvSpPr>
            <a:spLocks noGrp="1"/>
          </p:cNvSpPr>
          <p:nvPr>
            <p:ph type="title"/>
          </p:nvPr>
        </p:nvSpPr>
        <p:spPr>
          <a:xfrm>
            <a:off x="1371600" y="685800"/>
            <a:ext cx="9601200" cy="896257"/>
          </a:xfrm>
        </p:spPr>
        <p:txBody>
          <a:bodyPr>
            <a:normAutofit/>
          </a:bodyPr>
          <a:lstStyle/>
          <a:p>
            <a:r>
              <a:rPr lang="en-US" dirty="0"/>
              <a:t>Version Control</a:t>
            </a:r>
          </a:p>
        </p:txBody>
      </p:sp>
      <p:sp>
        <p:nvSpPr>
          <p:cNvPr id="3" name="Content Placeholder 2">
            <a:extLst>
              <a:ext uri="{FF2B5EF4-FFF2-40B4-BE49-F238E27FC236}">
                <a16:creationId xmlns:a16="http://schemas.microsoft.com/office/drawing/2014/main" id="{FFCC49FB-41FF-8D38-4209-997A65286D8D}"/>
              </a:ext>
            </a:extLst>
          </p:cNvPr>
          <p:cNvSpPr>
            <a:spLocks noGrp="1"/>
          </p:cNvSpPr>
          <p:nvPr>
            <p:ph idx="1"/>
          </p:nvPr>
        </p:nvSpPr>
        <p:spPr>
          <a:xfrm>
            <a:off x="1371600" y="1582057"/>
            <a:ext cx="9601200" cy="4285343"/>
          </a:xfrm>
        </p:spPr>
        <p:txBody>
          <a:bodyPr/>
          <a:lstStyle/>
          <a:p>
            <a:r>
              <a:rPr lang="en-US" dirty="0"/>
              <a:t>Throughout the project I used Git to incrementally commit changes, usually after every feature or fix. This way, each commit represents a unit of work, and it is easy to roll back to a previous working version to find a bug if the app stops working.</a:t>
            </a:r>
          </a:p>
          <a:p>
            <a:r>
              <a:rPr lang="en-US" dirty="0"/>
              <a:t>A git ignore file is used to remove any files that should not be committed such as .env files and .db files. </a:t>
            </a:r>
          </a:p>
          <a:p>
            <a:r>
              <a:rPr lang="en-US" dirty="0"/>
              <a:t>Database files are not committed for the purpose of keeping the repository lightweight. Since it is already easy to set up the app, it does not add much complexity to generate the database from the dataset on set up.</a:t>
            </a:r>
          </a:p>
          <a:p>
            <a:r>
              <a:rPr lang="en-US" dirty="0"/>
              <a:t>To imitate team environments, branches were used for distinct features.</a:t>
            </a:r>
          </a:p>
          <a:p>
            <a:r>
              <a:rPr lang="en-US" dirty="0"/>
              <a:t>One limitation would be that code reviews were not performed before each push or merge, which is a common practice in team-based development.</a:t>
            </a:r>
          </a:p>
        </p:txBody>
      </p:sp>
      <p:pic>
        <p:nvPicPr>
          <p:cNvPr id="3074" name="Picture 2" descr="Unlocking the Power of GitHub: A ...">
            <a:extLst>
              <a:ext uri="{FF2B5EF4-FFF2-40B4-BE49-F238E27FC236}">
                <a16:creationId xmlns:a16="http://schemas.microsoft.com/office/drawing/2014/main" id="{7A14462F-5710-5CFD-F443-24567A450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964" y="302026"/>
            <a:ext cx="3039836" cy="1120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04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4782-D6C1-87CE-CB97-F2CA2131A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6448C-3139-CD7A-9F50-23CA7C585698}"/>
              </a:ext>
            </a:extLst>
          </p:cNvPr>
          <p:cNvSpPr>
            <a:spLocks noGrp="1"/>
          </p:cNvSpPr>
          <p:nvPr>
            <p:ph type="title"/>
          </p:nvPr>
        </p:nvSpPr>
        <p:spPr>
          <a:xfrm>
            <a:off x="1371600" y="685800"/>
            <a:ext cx="9601200" cy="896257"/>
          </a:xfrm>
        </p:spPr>
        <p:txBody>
          <a:bodyPr>
            <a:normAutofit/>
          </a:bodyPr>
          <a:lstStyle/>
          <a:p>
            <a:r>
              <a:rPr lang="en-US" dirty="0"/>
              <a:t>GenAI usage</a:t>
            </a:r>
          </a:p>
        </p:txBody>
      </p:sp>
      <p:sp>
        <p:nvSpPr>
          <p:cNvPr id="3" name="Content Placeholder 2">
            <a:extLst>
              <a:ext uri="{FF2B5EF4-FFF2-40B4-BE49-F238E27FC236}">
                <a16:creationId xmlns:a16="http://schemas.microsoft.com/office/drawing/2014/main" id="{27C30091-FF88-887C-58BD-B4EF0400C8D0}"/>
              </a:ext>
            </a:extLst>
          </p:cNvPr>
          <p:cNvSpPr>
            <a:spLocks noGrp="1"/>
          </p:cNvSpPr>
          <p:nvPr>
            <p:ph idx="1"/>
          </p:nvPr>
        </p:nvSpPr>
        <p:spPr>
          <a:xfrm>
            <a:off x="1371600" y="1582057"/>
            <a:ext cx="9601200" cy="4285343"/>
          </a:xfrm>
        </p:spPr>
        <p:txBody>
          <a:bodyPr/>
          <a:lstStyle/>
          <a:p>
            <a:r>
              <a:rPr lang="en-US" dirty="0"/>
              <a:t>Anthropic’s Claude AI was used all throughout this project in an assistive role and as a generative agent. </a:t>
            </a:r>
          </a:p>
          <a:p>
            <a:r>
              <a:rPr lang="en-US" dirty="0"/>
              <a:t>Firstly, Claude was used as a high-level planner and decision maker. It provided the pros and cons of each choice as well as a suggestion for the architecture and tech stack of the application.</a:t>
            </a:r>
          </a:p>
          <a:p>
            <a:r>
              <a:rPr lang="en-US" dirty="0"/>
              <a:t>It was used to generate file templates to make each feature easier to implement and iteratively develop. When bugs were discovered that were difficult to diagnose, Claude was used to identify the problems and solve them.</a:t>
            </a:r>
          </a:p>
          <a:p>
            <a:r>
              <a:rPr lang="en-US" dirty="0"/>
              <a:t>The test suite was also made with the help of Claude. The generated tests revealed some hidden errors in the database that had not been flagged yet.</a:t>
            </a:r>
          </a:p>
          <a:p>
            <a:pPr marL="0" indent="0">
              <a:buNone/>
            </a:pPr>
            <a:endParaRPr lang="en-US" dirty="0"/>
          </a:p>
        </p:txBody>
      </p:sp>
      <p:pic>
        <p:nvPicPr>
          <p:cNvPr id="4102" name="Picture 6" descr="Mastering Claude Opus 4.1: Prompt ...">
            <a:extLst>
              <a:ext uri="{FF2B5EF4-FFF2-40B4-BE49-F238E27FC236}">
                <a16:creationId xmlns:a16="http://schemas.microsoft.com/office/drawing/2014/main" id="{88335D89-4413-DB86-8A64-7CB0F1374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361" y="5136193"/>
            <a:ext cx="1739278" cy="1462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226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9473-93B7-976C-9E36-1516A58A1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8F2DE-4875-63F4-EDD9-AEB0951A54F3}"/>
              </a:ext>
            </a:extLst>
          </p:cNvPr>
          <p:cNvSpPr>
            <a:spLocks noGrp="1"/>
          </p:cNvSpPr>
          <p:nvPr>
            <p:ph type="title"/>
          </p:nvPr>
        </p:nvSpPr>
        <p:spPr>
          <a:xfrm>
            <a:off x="1371600" y="685800"/>
            <a:ext cx="9601200" cy="896257"/>
          </a:xfrm>
        </p:spPr>
        <p:txBody>
          <a:bodyPr>
            <a:normAutofit/>
          </a:bodyPr>
          <a:lstStyle/>
          <a:p>
            <a:r>
              <a:rPr lang="en-US" dirty="0"/>
              <a:t>Reflection</a:t>
            </a:r>
          </a:p>
        </p:txBody>
      </p:sp>
      <p:sp>
        <p:nvSpPr>
          <p:cNvPr id="3" name="Content Placeholder 2">
            <a:extLst>
              <a:ext uri="{FF2B5EF4-FFF2-40B4-BE49-F238E27FC236}">
                <a16:creationId xmlns:a16="http://schemas.microsoft.com/office/drawing/2014/main" id="{031ACCA6-EEDB-3A81-683F-1F5215CCD400}"/>
              </a:ext>
            </a:extLst>
          </p:cNvPr>
          <p:cNvSpPr>
            <a:spLocks noGrp="1"/>
          </p:cNvSpPr>
          <p:nvPr>
            <p:ph idx="1"/>
          </p:nvPr>
        </p:nvSpPr>
        <p:spPr>
          <a:xfrm>
            <a:off x="1371600" y="1582057"/>
            <a:ext cx="9601200" cy="4285343"/>
          </a:xfrm>
        </p:spPr>
        <p:txBody>
          <a:bodyPr>
            <a:normAutofit fontScale="85000" lnSpcReduction="20000"/>
          </a:bodyPr>
          <a:lstStyle/>
          <a:p>
            <a:pPr marL="0" indent="0">
              <a:spcBef>
                <a:spcPts val="400"/>
              </a:spcBef>
              <a:buNone/>
            </a:pPr>
            <a:r>
              <a:rPr lang="en-US" b="1" dirty="0">
                <a:solidFill>
                  <a:schemeClr val="tx1"/>
                </a:solidFill>
              </a:rPr>
              <a:t>Challenges</a:t>
            </a:r>
          </a:p>
          <a:p>
            <a:pPr>
              <a:spcBef>
                <a:spcPts val="400"/>
              </a:spcBef>
            </a:pPr>
            <a:r>
              <a:rPr lang="en-US" dirty="0">
                <a:solidFill>
                  <a:schemeClr val="tx1"/>
                </a:solidFill>
              </a:rPr>
              <a:t>Dataset swap mid-build - Original dataset lacked user rating metadata. Required refactoring multiple files and restructuring the project.</a:t>
            </a:r>
          </a:p>
          <a:p>
            <a:pPr>
              <a:spcBef>
                <a:spcPts val="400"/>
              </a:spcBef>
            </a:pPr>
            <a:endParaRPr lang="en-US" dirty="0">
              <a:solidFill>
                <a:schemeClr val="tx1"/>
              </a:solidFill>
            </a:endParaRPr>
          </a:p>
          <a:p>
            <a:pPr>
              <a:spcBef>
                <a:spcPts val="400"/>
              </a:spcBef>
            </a:pPr>
            <a:r>
              <a:rPr lang="en-US" dirty="0">
                <a:solidFill>
                  <a:schemeClr val="tx1"/>
                </a:solidFill>
              </a:rPr>
              <a:t>Tricky data bugs - Whitespace in CSV header and DB representation issues — simple fixes but hard to diagnose.</a:t>
            </a:r>
          </a:p>
          <a:p>
            <a:pPr>
              <a:spcBef>
                <a:spcPts val="400"/>
              </a:spcBef>
            </a:pPr>
            <a:endParaRPr lang="en-US" dirty="0">
              <a:solidFill>
                <a:schemeClr val="tx1"/>
              </a:solidFill>
            </a:endParaRPr>
          </a:p>
          <a:p>
            <a:pPr marL="0" indent="0">
              <a:spcBef>
                <a:spcPts val="400"/>
              </a:spcBef>
              <a:buNone/>
            </a:pPr>
            <a:r>
              <a:rPr lang="en-US" b="1" dirty="0">
                <a:solidFill>
                  <a:schemeClr val="tx1"/>
                </a:solidFill>
              </a:rPr>
              <a:t>Lessons Learned</a:t>
            </a:r>
          </a:p>
          <a:p>
            <a:pPr>
              <a:spcBef>
                <a:spcPts val="400"/>
              </a:spcBef>
            </a:pPr>
            <a:r>
              <a:rPr lang="en-US" dirty="0">
                <a:solidFill>
                  <a:schemeClr val="tx1"/>
                </a:solidFill>
              </a:rPr>
              <a:t>Understand data first - Exploring the dataset before designing endpoints avoids costly rework.</a:t>
            </a:r>
          </a:p>
          <a:p>
            <a:pPr>
              <a:spcBef>
                <a:spcPts val="400"/>
              </a:spcBef>
            </a:pPr>
            <a:endParaRPr lang="en-US" dirty="0">
              <a:solidFill>
                <a:schemeClr val="tx1"/>
              </a:solidFill>
            </a:endParaRPr>
          </a:p>
          <a:p>
            <a:pPr>
              <a:spcBef>
                <a:spcPts val="400"/>
              </a:spcBef>
            </a:pPr>
            <a:r>
              <a:rPr lang="en-US" dirty="0">
                <a:solidFill>
                  <a:schemeClr val="tx1"/>
                </a:solidFill>
              </a:rPr>
              <a:t>Modular design pays off </a:t>
            </a:r>
            <a:r>
              <a:rPr lang="en-US" b="1" dirty="0">
                <a:solidFill>
                  <a:schemeClr val="tx1"/>
                </a:solidFill>
              </a:rPr>
              <a:t>- </a:t>
            </a:r>
            <a:r>
              <a:rPr lang="en-US" dirty="0">
                <a:solidFill>
                  <a:schemeClr val="tx1"/>
                </a:solidFill>
              </a:rPr>
              <a:t>Router-based separation made debugging and iteration much faster.</a:t>
            </a:r>
          </a:p>
          <a:p>
            <a:pPr marL="0" indent="0">
              <a:buNone/>
            </a:pPr>
            <a:endParaRPr lang="en-US" dirty="0"/>
          </a:p>
          <a:p>
            <a:pPr marL="0" indent="0">
              <a:buNone/>
            </a:pPr>
            <a:r>
              <a:rPr lang="en-US" b="1" dirty="0"/>
              <a:t>Future Work</a:t>
            </a:r>
          </a:p>
          <a:p>
            <a:r>
              <a:rPr lang="en-US" dirty="0"/>
              <a:t>In the future, I would add a recommendation endpoint that, given a book by ID, returns similar reads.</a:t>
            </a:r>
          </a:p>
        </p:txBody>
      </p:sp>
    </p:spTree>
    <p:extLst>
      <p:ext uri="{BB962C8B-B14F-4D97-AF65-F5344CB8AC3E}">
        <p14:creationId xmlns:p14="http://schemas.microsoft.com/office/powerpoint/2010/main" val="227156248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372</TotalTime>
  <Words>743</Words>
  <Application>Microsoft Macintosh PowerPoint</Application>
  <PresentationFormat>Widescreen</PresentationFormat>
  <Paragraphs>57</Paragraphs>
  <Slides>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Franklin Gothic Book</vt:lpstr>
      <vt:lpstr>Crop</vt:lpstr>
      <vt:lpstr>BookVault API</vt:lpstr>
      <vt:lpstr>Overview </vt:lpstr>
      <vt:lpstr>Technology Stack </vt:lpstr>
      <vt:lpstr>Architecture</vt:lpstr>
      <vt:lpstr>Demo</vt:lpstr>
      <vt:lpstr>Version Control</vt:lpstr>
      <vt:lpstr>GenAI usage</vt:lpstr>
      <vt:lpstr>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 Hughes [sc22m2h]</dc:creator>
  <cp:lastModifiedBy>Matthew Hughes [sc22m2h]</cp:lastModifiedBy>
  <cp:revision>13</cp:revision>
  <dcterms:created xsi:type="dcterms:W3CDTF">2026-03-13T11:02:39Z</dcterms:created>
  <dcterms:modified xsi:type="dcterms:W3CDTF">2026-03-14T16:24:35Z</dcterms:modified>
</cp:coreProperties>
</file>